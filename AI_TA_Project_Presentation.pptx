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ato" panose="020B0604020202020204" charset="0"/>
      <p:regular r:id="rId18"/>
      <p:bold r:id="rId19"/>
      <p:italic r:id="rId20"/>
      <p:boldItalic r:id="rId21"/>
    </p:embeddedFont>
    <p:embeddedFont>
      <p:font typeface="Poppins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9" d="100"/>
          <a:sy n="79" d="100"/>
        </p:scale>
        <p:origin x="821" y="1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35329" y="2614612"/>
            <a:ext cx="1072134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Intelligent AI Teaching Assistant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90600" y="3709987"/>
            <a:ext cx="1021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Hybrid Reasoning System for Personalized Learning using Neo4j and RAG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8350"/>
            <a:ext cx="34290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038350"/>
            <a:ext cx="34290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038350"/>
            <a:ext cx="34290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90850" y="3048000"/>
            <a:ext cx="23902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Dumb Retrieval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66775" y="38195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 RAG finds text that *sounds* similar, but doesn't *understand* the underlying concepts. It lacks true academic comprehension.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605813" y="3048000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Disconnected Facts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76774" y="383857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Tools can't link "photosynthesis" to "glucose" as a prerequisite. Knowledge is "flat," missing the crucial relationships between topics.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8920876" y="3048000"/>
            <a:ext cx="197024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Passive Q&amp;A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86775" y="38195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Most "AI TAs" are just search engines. They can answer simple questions but can't actively *teach*, *quiz*, or guide a student's learning.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23526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3526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3526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Problem with E-Learning Tools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 "Hybrid Brain" for Deeper Learning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26289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built an AI TA that understands academic concepts by combining two forms of knowledge: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46577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fusing these, our AI moves from simple search to genuine reasoning, understanding both the raw text and the relationships that connect it.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14375" y="33147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33147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Unstructured (RAG):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exact, nuanced text from course documents. Provides the "what the professor said."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14375" y="3971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09625" y="39719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Structured (Neo4j):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Knowledge Graph of all topics, definitions, and prerequisites. Provides the "conceptual blueprint."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Our Solution: A Hybrid AI TA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0796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Step 1: Ingest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464820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Upload PDF, DOCX, or TXT files. Content is extracted for processing.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3343888" y="19621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Step 2: Extract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407419" y="2466975"/>
            <a:ext cx="254124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Semantic chunking + LLM extraction (Gemini) identifies all concepts, definitions, and formulas.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17980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Step 3: Store (Dual)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243339" y="464820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Populates *both* PGVector (for RAG) and Neo4j (for graph relationships) in parallel.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015728" y="221932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Step 4: Query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079259" y="272415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Hybrid retrieval fuses context from *both* databases to power the final LLM response.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System Architecture Flow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From Flat Text to Rich Graph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2628900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system's first novelty is its automated ingestion pipeline. It intelligently converts a flat, 50-page PDF document into a rich, interconnected knowledge graph in Neo4j.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357187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is achieved by combining: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53435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result is a queryable "brain" of the course, built automatically.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14375" y="40005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09625" y="40005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Semantic Chunking: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Groups text by meaning, not fixed size, to preserve conceptual coherence.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14375" y="46577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09625" y="46577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LLM Extraction: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Uses an AI to read these chunks and pull out structured data (Topics, Definitions, Prerequisites).</a:t>
            </a:r>
            <a:endParaRPr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Innovation #1: Automated Knowledge Graph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8862"/>
            <a:ext cx="5286375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28862"/>
            <a:ext cx="5286375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962025" y="27193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Vector RAG (The "What")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62025" y="3348037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first part of our context comes from a standard vector search in PGVector.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724650" y="27193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Graph (Neo4j) (The "Why")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724650" y="3348037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second part comes from a graph query in Neo4j.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104900" y="40338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200150" y="403383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Query: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"What does the text *say* about X?"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104900" y="44338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200150" y="4433887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Finds specific examples, nuanced explanations, and the exact phrasing from the document.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867525" y="37766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962775" y="3776662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Query: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"What *is* X?"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867525" y="41767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962775" y="4176712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Finds the formal definition, its subtopics, and what its prerequisites are.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Innovation #2: Hybrid Reasoning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573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71500" y="17573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"How do I get from A to D?"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571500" y="2386012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key benefit of the knowledge graph is the ability to generate personalized study plans. A user can ask for the path between two concepts.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332898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system runs a shortest path algorithm on the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PREREQUISITE_FOR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relationships in Neo4j.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4014787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step-by-step learning path.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19150" y="4443412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952500" y="4443412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First, learn: Basic Cells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19150" y="4843462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52500" y="4843462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Next, learn: Chloroplasts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19150" y="5243512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952500" y="5243512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Then, learn: Light-Dependent Reactions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19150" y="5643562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952500" y="5643562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 are ready for: Photosynthesis</a:t>
            </a:r>
            <a:endParaRPr/>
          </a:p>
        </p:txBody>
      </p:sp>
      <p:pic>
        <p:nvPicPr>
          <p:cNvPr id="229" name="Google Shape;22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573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Core Feature: Learning Paths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-5836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571500" y="2590800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+40%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4019550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Concept Understanding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334127" y="163068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Quantifiable Learning Gains</a:t>
            </a:r>
            <a:endParaRPr dirty="0"/>
          </a:p>
        </p:txBody>
      </p:sp>
      <p:sp>
        <p:nvSpPr>
          <p:cNvPr id="239" name="Google Shape;239;p22"/>
          <p:cNvSpPr txBox="1"/>
          <p:nvPr/>
        </p:nvSpPr>
        <p:spPr>
          <a:xfrm>
            <a:off x="6334127" y="225933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moving from flat text to a relational knowledge graph, we anticipate significant improvements in educational outcomes.</a:t>
            </a:r>
            <a:endParaRPr dirty="0"/>
          </a:p>
        </p:txBody>
      </p:sp>
      <p:sp>
        <p:nvSpPr>
          <p:cNvPr id="240" name="Google Shape;240;p22"/>
          <p:cNvSpPr txBox="1"/>
          <p:nvPr/>
        </p:nvSpPr>
        <p:spPr>
          <a:xfrm>
            <a:off x="6502140" y="300207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41" name="Google Shape;241;p22"/>
          <p:cNvSpPr txBox="1"/>
          <p:nvPr/>
        </p:nvSpPr>
        <p:spPr>
          <a:xfrm>
            <a:off x="6572252" y="294513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+25-35% Learning Retention: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Driven by interactive, graph-informed quizzes and immediate feedback.</a:t>
            </a:r>
            <a:endParaRPr dirty="0"/>
          </a:p>
        </p:txBody>
      </p:sp>
      <p:sp>
        <p:nvSpPr>
          <p:cNvPr id="242" name="Google Shape;242;p22"/>
          <p:cNvSpPr txBox="1"/>
          <p:nvPr/>
        </p:nvSpPr>
        <p:spPr>
          <a:xfrm>
            <a:off x="6513334" y="365869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43" name="Google Shape;243;p22"/>
          <p:cNvSpPr txBox="1"/>
          <p:nvPr/>
        </p:nvSpPr>
        <p:spPr>
          <a:xfrm>
            <a:off x="6572252" y="3602355"/>
            <a:ext cx="504825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+60% Student Engagement: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Achieved through a conversational UI that provides active, not passive, learning.</a:t>
            </a:r>
            <a:br>
              <a:rPr lang="en-IN" sz="1200" dirty="0"/>
            </a:br>
            <a:endParaRPr lang="en-US" sz="1350" b="0" i="0" u="none" strike="noStrike" cap="none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Expected Results &amp; Impact</a:t>
            </a: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5B021D-5A3A-4E0A-B552-D5D3820FEA48}"/>
              </a:ext>
            </a:extLst>
          </p:cNvPr>
          <p:cNvSpPr/>
          <p:nvPr/>
        </p:nvSpPr>
        <p:spPr>
          <a:xfrm>
            <a:off x="6572252" y="4263445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>
                <a:solidFill>
                  <a:srgbClr val="475569"/>
                </a:solidFill>
                <a:latin typeface="Lato" panose="020B0604020202020204" charset="0"/>
              </a:rPr>
              <a:t>&lt; 3 Sec Response Time:</a:t>
            </a:r>
            <a:r>
              <a:rPr lang="en-IN" dirty="0">
                <a:solidFill>
                  <a:srgbClr val="475569"/>
                </a:solidFill>
                <a:latin typeface="Lato" panose="020B0604020202020204" charset="0"/>
              </a:rPr>
              <a:t> Fast hybrid retrieval ensures a seamless</a:t>
            </a:r>
          </a:p>
          <a:p>
            <a:r>
              <a:rPr lang="en-IN" dirty="0">
                <a:solidFill>
                  <a:srgbClr val="475569"/>
                </a:solidFill>
                <a:latin typeface="Lato" panose="020B0604020202020204" charset="0"/>
              </a:rPr>
              <a:t> user experience.</a:t>
            </a:r>
            <a:endParaRPr lang="en-IN" dirty="0"/>
          </a:p>
          <a:p>
            <a:br>
              <a:rPr lang="en-IN" dirty="0"/>
            </a:br>
            <a:endParaRPr lang="en-IN" dirty="0"/>
          </a:p>
        </p:txBody>
      </p:sp>
      <p:sp>
        <p:nvSpPr>
          <p:cNvPr id="15" name="Google Shape;242;p22">
            <a:extLst>
              <a:ext uri="{FF2B5EF4-FFF2-40B4-BE49-F238E27FC236}">
                <a16:creationId xmlns:a16="http://schemas.microsoft.com/office/drawing/2014/main" id="{ECFFF9B8-9512-4D1A-8895-B8BCD779CB91}"/>
              </a:ext>
            </a:extLst>
          </p:cNvPr>
          <p:cNvSpPr txBox="1"/>
          <p:nvPr/>
        </p:nvSpPr>
        <p:spPr>
          <a:xfrm>
            <a:off x="6520895" y="4288019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580747-67B7-49C3-B924-379B74B16EC4}"/>
              </a:ext>
            </a:extLst>
          </p:cNvPr>
          <p:cNvSpPr/>
          <p:nvPr/>
        </p:nvSpPr>
        <p:spPr>
          <a:xfrm>
            <a:off x="6572252" y="4802899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475569"/>
                </a:solidFill>
                <a:latin typeface="Lato" panose="020B0604020202020204" charset="0"/>
              </a:rPr>
              <a:t>&gt;90% Extraction Accuracy:</a:t>
            </a:r>
            <a:r>
              <a:rPr lang="en-US" dirty="0">
                <a:solidFill>
                  <a:srgbClr val="475569"/>
                </a:solidFill>
                <a:latin typeface="Lato" panose="020B0604020202020204" charset="0"/>
              </a:rPr>
              <a:t> Precision in converting unstructured </a:t>
            </a:r>
          </a:p>
          <a:p>
            <a:r>
              <a:rPr lang="en-US" dirty="0">
                <a:solidFill>
                  <a:srgbClr val="475569"/>
                </a:solidFill>
                <a:latin typeface="Lato" panose="020B0604020202020204" charset="0"/>
              </a:rPr>
              <a:t>text into correct graph concepts.</a:t>
            </a:r>
            <a:endParaRPr lang="en-US" dirty="0"/>
          </a:p>
          <a:p>
            <a:br>
              <a:rPr lang="en-US" dirty="0"/>
            </a:b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FB3654-3D93-4A9C-AA34-DC24CFFE9DD7}"/>
              </a:ext>
            </a:extLst>
          </p:cNvPr>
          <p:cNvSpPr/>
          <p:nvPr/>
        </p:nvSpPr>
        <p:spPr>
          <a:xfrm>
            <a:off x="6424089" y="4810867"/>
            <a:ext cx="2888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2190750" y="249555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Intent Router: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Develop a "router" module that automatically analyzes the user's query to select the best mode: RAG, Graph, or Hybrid.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2190750" y="320040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Live Graph Visualization: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Add a frontend module to render the Neo4j graph interactively, allowing students to visually explore the concept map.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2190750" y="390525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LMS Integration: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Package the AI TA as a plug-in for major Learning Management Systems like Moodle and Canvas.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2190750" y="461010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Fine-Tuning: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Fine-tune the local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Ollama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model on the extracted knowledge to create a domain-expert AI with reduced API costs.</a:t>
            </a:r>
            <a:endParaRPr dirty="0"/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431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2480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952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65772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Future Work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CA6FB8-435D-4168-8F47-EC927DCD8F7D}"/>
              </a:ext>
            </a:extLst>
          </p:cNvPr>
          <p:cNvSpPr/>
          <p:nvPr/>
        </p:nvSpPr>
        <p:spPr>
          <a:xfrm>
            <a:off x="2066925" y="5314950"/>
            <a:ext cx="83153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34155"/>
                </a:solidFill>
                <a:latin typeface="Lato" panose="020B0604020202020204" charset="0"/>
              </a:rPr>
              <a:t>Advanced Graph-Based Quizzing:</a:t>
            </a:r>
            <a:r>
              <a:rPr lang="en-US" dirty="0">
                <a:solidFill>
                  <a:srgbClr val="475569"/>
                </a:solidFill>
                <a:latin typeface="Lato" panose="020B0604020202020204" charset="0"/>
              </a:rPr>
              <a:t> Fully implement the quiz generator to test complex relationships (e.g., prerequisites) and provide adaptive difficulty.</a:t>
            </a:r>
            <a:endParaRPr lang="en-US" dirty="0"/>
          </a:p>
          <a:p>
            <a:br>
              <a:rPr lang="en-US" dirty="0"/>
            </a:br>
            <a:endParaRPr lang="en-IN" dirty="0"/>
          </a:p>
        </p:txBody>
      </p:sp>
      <p:pic>
        <p:nvPicPr>
          <p:cNvPr id="1032" name="Picture 8" descr="image.png">
            <a:extLst>
              <a:ext uri="{FF2B5EF4-FFF2-40B4-BE49-F238E27FC236}">
                <a16:creationId xmlns:a16="http://schemas.microsoft.com/office/drawing/2014/main" id="{A54B1451-BFA9-4DF5-96A4-DEAA5221A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355" y="5366209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295275" y="2295525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571500" y="364807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We've built an AI TA that moves from simple Q&amp;A to a deep, conceptual reasoning engine.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571500" y="4343400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/>
          <p:nvPr/>
        </p:nvSpPr>
        <p:spPr>
          <a:xfrm>
            <a:off x="571500" y="30432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1500" y="38147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1500" y="4757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241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66875" y="24312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https://miro.medium.com/1*acemTscCfgRoq7OBv8WZvg.jpeg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26646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levelup.gitconnected.com</a:t>
            </a:r>
            <a:endParaRPr/>
          </a:p>
        </p:txBody>
      </p:sp>
      <p:pic>
        <p:nvPicPr>
          <p:cNvPr id="278" name="Google Shape;27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956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1666875" y="32027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https://public-media.interaction-design.org/images/encyclopedia/data_visualization_for_human_perception/node-and-link-diagram-social-graph.jpg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666875" y="34361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www.interaction-design.org</a:t>
            </a:r>
            <a:endParaRPr/>
          </a:p>
        </p:txBody>
      </p:sp>
      <p:pic>
        <p:nvPicPr>
          <p:cNvPr id="281" name="Google Shape;28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1666875" y="39671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https://static.vecteezy.com/system/resources/previews/056/080/513/non_2x/quiz-interface-trivia-question-ui-layout-quizzing-answer-screen-for-game-quizzes-test-and-exam-multiple-choice-interface-design-modern-quizzes-layout-frame-set-vector.jpg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666875" y="43862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id="284" name="Google Shape;284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101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666875" y="49172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https://media.geeksforgeeks.org/wp-content/uploads/20230117011016/777777777-768.jpg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666875" y="51506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965</Words>
  <Application>Microsoft Office PowerPoint</Application>
  <PresentationFormat>Widescreen</PresentationFormat>
  <Paragraphs>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Lato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Chirag Jindal</dc:creator>
  <cp:lastModifiedBy>Chirag Jindal</cp:lastModifiedBy>
  <cp:revision>2</cp:revision>
  <dcterms:modified xsi:type="dcterms:W3CDTF">2025-11-18T03:18:31Z</dcterms:modified>
</cp:coreProperties>
</file>